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915" r:id="rId4"/>
    <p:sldId id="936" r:id="rId5"/>
    <p:sldId id="949" r:id="rId6"/>
    <p:sldId id="951" r:id="rId7"/>
    <p:sldId id="952" r:id="rId8"/>
    <p:sldId id="950" r:id="rId9"/>
    <p:sldId id="954" r:id="rId10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9qlZ9cWV5GQ1CqLOeUrRHnU5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4"/>
  </p:normalViewPr>
  <p:slideViewPr>
    <p:cSldViewPr snapToGrid="0" snapToObjects="1">
      <p:cViewPr varScale="1">
        <p:scale>
          <a:sx n="106" d="100"/>
          <a:sy n="106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502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303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20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4561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560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2414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5CE44-B282-4F96-8168-BC030B4EA802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797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 화면">
  <p:cSld name="1_빈 화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3838575" y="6432843"/>
            <a:ext cx="2228850" cy="37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7" name="Google Shape;17;p16"/>
          <p:cNvSpPr/>
          <p:nvPr/>
        </p:nvSpPr>
        <p:spPr>
          <a:xfrm>
            <a:off x="453000" y="6415893"/>
            <a:ext cx="9000000" cy="18000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6"/>
          <p:cNvCxnSpPr/>
          <p:nvPr/>
        </p:nvCxnSpPr>
        <p:spPr>
          <a:xfrm>
            <a:off x="0" y="583106"/>
            <a:ext cx="9906000" cy="0"/>
          </a:xfrm>
          <a:prstGeom prst="straightConnector1">
            <a:avLst/>
          </a:prstGeom>
          <a:noFill/>
          <a:ln w="12700" cap="flat" cmpd="sng">
            <a:solidFill>
              <a:srgbClr val="D4D4D4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1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5244" y="6506577"/>
            <a:ext cx="509538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 txBox="1">
            <a:spLocks noGrp="1"/>
          </p:cNvSpPr>
          <p:nvPr>
            <p:ph type="body" idx="1"/>
          </p:nvPr>
        </p:nvSpPr>
        <p:spPr>
          <a:xfrm>
            <a:off x="435245" y="182164"/>
            <a:ext cx="2815956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23F4F"/>
              </a:buClr>
              <a:buSzPts val="2000"/>
              <a:buFont typeface="Arial"/>
              <a:buNone/>
              <a:defRPr sz="2000">
                <a:solidFill>
                  <a:srgbClr val="323F4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>
  <p:cSld name="2_제목 및 내용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8"/>
          <p:cNvGrpSpPr/>
          <p:nvPr/>
        </p:nvGrpSpPr>
        <p:grpSpPr>
          <a:xfrm>
            <a:off x="-8804" y="-12700"/>
            <a:ext cx="9457603" cy="921420"/>
            <a:chOff x="-8804" y="-12700"/>
            <a:chExt cx="8992150" cy="921420"/>
          </a:xfrm>
        </p:grpSpPr>
        <p:sp>
          <p:nvSpPr>
            <p:cNvPr id="27" name="Google Shape;27;p18"/>
            <p:cNvSpPr/>
            <p:nvPr/>
          </p:nvSpPr>
          <p:spPr>
            <a:xfrm>
              <a:off x="439420" y="0"/>
              <a:ext cx="8543926" cy="908719"/>
            </a:xfrm>
            <a:prstGeom prst="parallelogram">
              <a:avLst>
                <a:gd name="adj" fmla="val 25000"/>
              </a:avLst>
            </a:prstGeom>
            <a:solidFill>
              <a:srgbClr val="11234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-8804" y="-12700"/>
              <a:ext cx="980734" cy="921420"/>
            </a:xfrm>
            <a:custGeom>
              <a:avLst/>
              <a:gdLst/>
              <a:ahLst/>
              <a:cxnLst/>
              <a:rect l="l" t="t" r="r" b="b"/>
              <a:pathLst>
                <a:path w="1155700" h="901700" extrusionOk="0">
                  <a:moveTo>
                    <a:pt x="0" y="0"/>
                  </a:moveTo>
                  <a:lnTo>
                    <a:pt x="6350" y="361950"/>
                  </a:lnTo>
                  <a:lnTo>
                    <a:pt x="527050" y="901700"/>
                  </a:lnTo>
                  <a:lnTo>
                    <a:pt x="1155700" y="6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A9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55759" y="393157"/>
            <a:ext cx="33999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6267450" y="577823"/>
            <a:ext cx="27827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ko-K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울산 상수도 분석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3838575" y="6464843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>
            <a:spLocks noGrp="1"/>
          </p:cNvSpPr>
          <p:nvPr>
            <p:ph type="pic" idx="2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9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 txBox="1">
            <a:spLocks noGrp="1"/>
          </p:cNvSpPr>
          <p:nvPr>
            <p:ph type="title"/>
          </p:nvPr>
        </p:nvSpPr>
        <p:spPr>
          <a:xfrm rot="5400000">
            <a:off x="5251054" y="2203053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9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5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"/>
          <p:cNvGrpSpPr/>
          <p:nvPr/>
        </p:nvGrpSpPr>
        <p:grpSpPr>
          <a:xfrm>
            <a:off x="1" y="0"/>
            <a:ext cx="9906000" cy="6858000"/>
            <a:chOff x="1" y="0"/>
            <a:chExt cx="9906000" cy="6858000"/>
          </a:xfrm>
        </p:grpSpPr>
        <p:pic>
          <p:nvPicPr>
            <p:cNvPr id="107" name="Google Shape;107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" y="0"/>
              <a:ext cx="5616439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"/>
            <p:cNvPicPr preferRelativeResize="0"/>
            <p:nvPr/>
          </p:nvPicPr>
          <p:blipFill rotWithShape="1">
            <a:blip r:embed="rId4">
              <a:alphaModFix/>
            </a:blip>
            <a:srcRect r="23288"/>
            <a:stretch/>
          </p:blipFill>
          <p:spPr>
            <a:xfrm>
              <a:off x="5597503" y="0"/>
              <a:ext cx="4308498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"/>
          <p:cNvSpPr/>
          <p:nvPr/>
        </p:nvSpPr>
        <p:spPr>
          <a:xfrm>
            <a:off x="-3235" y="-63374"/>
            <a:ext cx="9906000" cy="6921374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txBody>
          <a:bodyPr spcFirstLastPara="1" wrap="square" lIns="74275" tIns="37125" rIns="74275" bIns="37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 flipH="1">
            <a:off x="-3235" y="4914691"/>
            <a:ext cx="9920521" cy="1960872"/>
          </a:xfrm>
          <a:prstGeom prst="rtTriangle">
            <a:avLst/>
          </a:prstGeom>
          <a:solidFill>
            <a:srgbClr val="1123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"/>
          <p:cNvCxnSpPr/>
          <p:nvPr/>
        </p:nvCxnSpPr>
        <p:spPr>
          <a:xfrm>
            <a:off x="1188113" y="3304984"/>
            <a:ext cx="5675939" cy="0"/>
          </a:xfrm>
          <a:prstGeom prst="straightConnector1">
            <a:avLst/>
          </a:prstGeom>
          <a:noFill/>
          <a:ln w="15875" cap="flat" cmpd="sng">
            <a:solidFill>
              <a:srgbClr val="11234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12" name="Google Shape;112;p1"/>
          <p:cNvSpPr/>
          <p:nvPr/>
        </p:nvSpPr>
        <p:spPr>
          <a:xfrm rot="-5400000">
            <a:off x="5643063" y="2607751"/>
            <a:ext cx="6934059" cy="1591807"/>
          </a:xfrm>
          <a:prstGeom prst="rtTriangle">
            <a:avLst/>
          </a:prstGeom>
          <a:solidFill>
            <a:srgbClr val="43689F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1201117" y="2257291"/>
            <a:ext cx="595198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sz="20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altLang="ko-KR" sz="20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sz="2000" b="1" dirty="0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altLang="ko-KR" sz="2000" b="1" dirty="0">
                <a:solidFill>
                  <a:srgbClr val="2F5496"/>
                </a:solidFill>
              </a:rPr>
              <a:t>ICT COG AI Academy</a:t>
            </a:r>
            <a:r>
              <a:rPr lang="ko-KR" altLang="en-US" sz="2000" b="1" dirty="0">
                <a:solidFill>
                  <a:srgbClr val="2F5496"/>
                </a:solidFill>
              </a:rPr>
              <a:t> 자연어 처리 프로젝트</a:t>
            </a:r>
            <a:endParaRPr dirty="0"/>
          </a:p>
        </p:txBody>
      </p:sp>
      <p:sp>
        <p:nvSpPr>
          <p:cNvPr id="122" name="Google Shape;122;p1"/>
          <p:cNvSpPr txBox="1"/>
          <p:nvPr/>
        </p:nvSpPr>
        <p:spPr>
          <a:xfrm>
            <a:off x="1165642" y="2636888"/>
            <a:ext cx="59519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1F3864"/>
                </a:solidFill>
              </a:rPr>
              <a:t>한국어</a:t>
            </a:r>
            <a:r>
              <a:rPr lang="ko-KR" altLang="en-US" sz="32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문서 추출 요약 </a:t>
            </a:r>
            <a:r>
              <a:rPr lang="en-US" altLang="ko-KR" sz="3200" b="1" dirty="0">
                <a:solidFill>
                  <a:srgbClr val="1F3864"/>
                </a:solidFill>
              </a:rPr>
              <a:t>AI</a:t>
            </a:r>
            <a:endParaRPr lang="ko-KR" altLang="en-US" dirty="0"/>
          </a:p>
        </p:txBody>
      </p:sp>
      <p:sp>
        <p:nvSpPr>
          <p:cNvPr id="123" name="Google Shape;123;p1"/>
          <p:cNvSpPr/>
          <p:nvPr/>
        </p:nvSpPr>
        <p:spPr>
          <a:xfrm>
            <a:off x="1137394" y="3844208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강민영</a:t>
            </a:r>
            <a:r>
              <a:rPr lang="ko-K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124" name="Google Shape;124;p1"/>
          <p:cNvSpPr txBox="1"/>
          <p:nvPr/>
        </p:nvSpPr>
        <p:spPr>
          <a:xfrm>
            <a:off x="1137394" y="3426594"/>
            <a:ext cx="1762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-KR" alt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/>
          <p:nvPr/>
        </p:nvSpPr>
        <p:spPr>
          <a:xfrm>
            <a:off x="0" y="0"/>
            <a:ext cx="2869119" cy="6858000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txBody>
          <a:bodyPr spcFirstLastPara="1" wrap="square" lIns="74275" tIns="37125" rIns="74275" bIns="37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 rot="-5400000">
            <a:off x="2524619" y="-512823"/>
            <a:ext cx="4855630" cy="9904869"/>
          </a:xfrm>
          <a:prstGeom prst="rtTriangle">
            <a:avLst/>
          </a:prstGeom>
          <a:solidFill>
            <a:srgbClr val="43689F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872299" y="304181"/>
            <a:ext cx="7040562" cy="6408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3518439" y="449672"/>
            <a:ext cx="42178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600" b="1" i="1" dirty="0" err="1">
                <a:solidFill>
                  <a:srgbClr val="003B5A"/>
                </a:solidFill>
                <a:latin typeface="Arial"/>
                <a:ea typeface="Arial"/>
                <a:cs typeface="Arial"/>
                <a:sym typeface="Arial"/>
              </a:rPr>
              <a:t>Conten</a:t>
            </a:r>
            <a:r>
              <a:rPr lang="en-US" altLang="ko-KR" sz="6600" b="1" i="1" dirty="0">
                <a:solidFill>
                  <a:srgbClr val="003B5A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ko-KR" sz="6600" b="1" i="1" dirty="0" err="1">
                <a:solidFill>
                  <a:srgbClr val="003B5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6600" i="1" dirty="0">
              <a:solidFill>
                <a:srgbClr val="003B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2"/>
          <p:cNvCxnSpPr/>
          <p:nvPr/>
        </p:nvCxnSpPr>
        <p:spPr>
          <a:xfrm>
            <a:off x="3544237" y="1419357"/>
            <a:ext cx="4903897" cy="0"/>
          </a:xfrm>
          <a:prstGeom prst="straightConnector1">
            <a:avLst/>
          </a:prstGeom>
          <a:noFill/>
          <a:ln w="9525" cap="flat" cmpd="sng">
            <a:solidFill>
              <a:srgbClr val="7B7B7B"/>
            </a:solidFill>
            <a:prstDash val="solid"/>
            <a:miter lim="800000"/>
            <a:headEnd type="none" w="sm" len="sm"/>
            <a:tailEnd type="oval" w="med" len="med"/>
          </a:ln>
        </p:spPr>
      </p:cxnSp>
      <p:grpSp>
        <p:nvGrpSpPr>
          <p:cNvPr id="135" name="Google Shape;135;p2"/>
          <p:cNvGrpSpPr/>
          <p:nvPr/>
        </p:nvGrpSpPr>
        <p:grpSpPr>
          <a:xfrm>
            <a:off x="3706093" y="1836764"/>
            <a:ext cx="693428" cy="687237"/>
            <a:chOff x="709547" y="1461779"/>
            <a:chExt cx="847991" cy="838463"/>
          </a:xfrm>
        </p:grpSpPr>
        <p:grpSp>
          <p:nvGrpSpPr>
            <p:cNvPr id="136" name="Google Shape;136;p2"/>
            <p:cNvGrpSpPr/>
            <p:nvPr/>
          </p:nvGrpSpPr>
          <p:grpSpPr>
            <a:xfrm>
              <a:off x="709547" y="1461779"/>
              <a:ext cx="847991" cy="838463"/>
              <a:chOff x="1062680" y="4559643"/>
              <a:chExt cx="237807" cy="237807"/>
            </a:xfrm>
          </p:grpSpPr>
          <p:sp>
            <p:nvSpPr>
              <p:cNvPr id="137" name="Google Shape;137;p2"/>
              <p:cNvSpPr/>
              <p:nvPr/>
            </p:nvSpPr>
            <p:spPr>
              <a:xfrm>
                <a:off x="1062680" y="4559643"/>
                <a:ext cx="237807" cy="237807"/>
              </a:xfrm>
              <a:prstGeom prst="ellipse">
                <a:avLst/>
              </a:prstGeom>
              <a:solidFill>
                <a:srgbClr val="1F4E79"/>
              </a:solidFill>
              <a:ln w="317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103438" y="4600400"/>
                <a:ext cx="156292" cy="15629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"/>
            <p:cNvSpPr txBox="1"/>
            <p:nvPr/>
          </p:nvSpPr>
          <p:spPr>
            <a:xfrm>
              <a:off x="966387" y="1621892"/>
              <a:ext cx="338205" cy="488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2000" b="1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4594335" y="1870250"/>
            <a:ext cx="3750877" cy="68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F4E79"/>
                </a:solidFill>
              </a:rPr>
              <a:t>분석 배경 </a:t>
            </a:r>
            <a:endParaRPr sz="1200" dirty="0">
              <a:solidFill>
                <a:srgbClr val="FAA3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134" y="5727220"/>
            <a:ext cx="2874208" cy="1130780"/>
          </a:xfrm>
          <a:prstGeom prst="rtTriangle">
            <a:avLst/>
          </a:prstGeom>
          <a:solidFill>
            <a:srgbClr val="1123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2"/>
          <p:cNvGrpSpPr/>
          <p:nvPr/>
        </p:nvGrpSpPr>
        <p:grpSpPr>
          <a:xfrm>
            <a:off x="3700131" y="2887318"/>
            <a:ext cx="693428" cy="687237"/>
            <a:chOff x="709547" y="1461779"/>
            <a:chExt cx="847991" cy="838463"/>
          </a:xfrm>
        </p:grpSpPr>
        <p:grpSp>
          <p:nvGrpSpPr>
            <p:cNvPr id="144" name="Google Shape;144;p2"/>
            <p:cNvGrpSpPr/>
            <p:nvPr/>
          </p:nvGrpSpPr>
          <p:grpSpPr>
            <a:xfrm>
              <a:off x="709547" y="1461779"/>
              <a:ext cx="847991" cy="838463"/>
              <a:chOff x="1062680" y="4559643"/>
              <a:chExt cx="237807" cy="237807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1062680" y="4559643"/>
                <a:ext cx="237807" cy="237807"/>
              </a:xfrm>
              <a:prstGeom prst="ellipse">
                <a:avLst/>
              </a:prstGeom>
              <a:solidFill>
                <a:srgbClr val="1F4E79"/>
              </a:solidFill>
              <a:ln w="317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103438" y="4600400"/>
                <a:ext cx="156292" cy="15629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" name="Google Shape;147;p2"/>
            <p:cNvSpPr txBox="1"/>
            <p:nvPr/>
          </p:nvSpPr>
          <p:spPr>
            <a:xfrm>
              <a:off x="966387" y="1621892"/>
              <a:ext cx="338205" cy="488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rPr>
                <a:t>Ⅱ</a:t>
              </a:r>
              <a:endParaRPr sz="2000" b="1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"/>
          <p:cNvSpPr/>
          <p:nvPr/>
        </p:nvSpPr>
        <p:spPr>
          <a:xfrm>
            <a:off x="4594336" y="2901878"/>
            <a:ext cx="3750877" cy="68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F4E79"/>
                </a:solidFill>
              </a:rPr>
              <a:t>활용 데이터</a:t>
            </a:r>
            <a:endParaRPr sz="1200" dirty="0">
              <a:solidFill>
                <a:srgbClr val="FAA3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3711796" y="4031016"/>
            <a:ext cx="693428" cy="687237"/>
            <a:chOff x="709547" y="1461779"/>
            <a:chExt cx="847991" cy="83846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709547" y="1461779"/>
              <a:ext cx="847991" cy="838463"/>
              <a:chOff x="1062680" y="4559643"/>
              <a:chExt cx="237807" cy="237807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1062680" y="4559643"/>
                <a:ext cx="237807" cy="237807"/>
              </a:xfrm>
              <a:prstGeom prst="ellipse">
                <a:avLst/>
              </a:prstGeom>
              <a:solidFill>
                <a:srgbClr val="1F4E79"/>
              </a:solidFill>
              <a:ln w="31750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103438" y="4600400"/>
                <a:ext cx="156292" cy="15629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25400" dist="50800" dir="2700000" algn="tl" rotWithShape="0">
                  <a:srgbClr val="000000">
                    <a:alpha val="2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" name="Google Shape;153;p2"/>
            <p:cNvSpPr txBox="1"/>
            <p:nvPr/>
          </p:nvSpPr>
          <p:spPr>
            <a:xfrm>
              <a:off x="966387" y="1621892"/>
              <a:ext cx="338206" cy="488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 dirty="0" err="1">
                  <a:solidFill>
                    <a:srgbClr val="1F4E79"/>
                  </a:solidFill>
                  <a:latin typeface="Arial"/>
                  <a:ea typeface="Arial"/>
                  <a:cs typeface="Arial"/>
                  <a:sym typeface="Arial"/>
                </a:rPr>
                <a:t>Ⅲ</a:t>
              </a:r>
              <a:endParaRPr sz="2000" b="1" dirty="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2"/>
          <p:cNvSpPr/>
          <p:nvPr/>
        </p:nvSpPr>
        <p:spPr>
          <a:xfrm>
            <a:off x="4603214" y="4031805"/>
            <a:ext cx="3750877" cy="68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F4E79"/>
                </a:solidFill>
              </a:rPr>
              <a:t>데이터 전처리 및 학습</a:t>
            </a:r>
            <a:endParaRPr sz="1200" dirty="0">
              <a:solidFill>
                <a:srgbClr val="FAA3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8025808" y="1506653"/>
            <a:ext cx="3750877" cy="68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AA3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51;p2">
            <a:extLst>
              <a:ext uri="{FF2B5EF4-FFF2-40B4-BE49-F238E27FC236}">
                <a16:creationId xmlns:a16="http://schemas.microsoft.com/office/drawing/2014/main" id="{5D557BE8-5C28-604F-A242-A2319AB6722B}"/>
              </a:ext>
            </a:extLst>
          </p:cNvPr>
          <p:cNvSpPr/>
          <p:nvPr/>
        </p:nvSpPr>
        <p:spPr>
          <a:xfrm>
            <a:off x="3711796" y="5099169"/>
            <a:ext cx="693428" cy="687237"/>
          </a:xfrm>
          <a:prstGeom prst="ellipse">
            <a:avLst/>
          </a:prstGeom>
          <a:solidFill>
            <a:srgbClr val="1F4E79"/>
          </a:solidFill>
          <a:ln w="317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508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F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152;p2">
            <a:extLst>
              <a:ext uri="{FF2B5EF4-FFF2-40B4-BE49-F238E27FC236}">
                <a16:creationId xmlns:a16="http://schemas.microsoft.com/office/drawing/2014/main" id="{1EE6C66E-522D-FE4F-8F3D-223C5011A5D7}"/>
              </a:ext>
            </a:extLst>
          </p:cNvPr>
          <p:cNvSpPr/>
          <p:nvPr/>
        </p:nvSpPr>
        <p:spPr>
          <a:xfrm>
            <a:off x="3830643" y="5216952"/>
            <a:ext cx="455736" cy="451667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25400" dist="50800" dir="2700000" algn="t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53;p2">
            <a:extLst>
              <a:ext uri="{FF2B5EF4-FFF2-40B4-BE49-F238E27FC236}">
                <a16:creationId xmlns:a16="http://schemas.microsoft.com/office/drawing/2014/main" id="{B5E93FEF-0957-1C4B-8F4A-595E01C71EB0}"/>
              </a:ext>
            </a:extLst>
          </p:cNvPr>
          <p:cNvSpPr txBox="1"/>
          <p:nvPr/>
        </p:nvSpPr>
        <p:spPr>
          <a:xfrm>
            <a:off x="3921822" y="5230404"/>
            <a:ext cx="27656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1F4E79"/>
                </a:solidFill>
                <a:latin typeface="나눔스퀘어OTF Bold" panose="020B0600000101010101" pitchFamily="34" charset="-127"/>
                <a:cs typeface="Times New Roman" pitchFamily="18" charset="0"/>
              </a:rPr>
              <a:t>Ⅳ</a:t>
            </a:r>
            <a:endParaRPr lang="ko-KR" altLang="en-US" sz="2000" b="1" dirty="0">
              <a:solidFill>
                <a:srgbClr val="1F4E79"/>
              </a:solidFill>
              <a:latin typeface="나눔스퀘어OTF Bold" panose="020B0600000101010101" pitchFamily="34" charset="-127"/>
              <a:cs typeface="Times New Roman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rgbClr val="1F4E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154;p2">
            <a:extLst>
              <a:ext uri="{FF2B5EF4-FFF2-40B4-BE49-F238E27FC236}">
                <a16:creationId xmlns:a16="http://schemas.microsoft.com/office/drawing/2014/main" id="{FB4509D4-F568-2041-9C8A-00273A40F476}"/>
              </a:ext>
            </a:extLst>
          </p:cNvPr>
          <p:cNvSpPr/>
          <p:nvPr/>
        </p:nvSpPr>
        <p:spPr>
          <a:xfrm>
            <a:off x="4594334" y="5063433"/>
            <a:ext cx="3750877" cy="686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F4E79"/>
                </a:solidFill>
              </a:rPr>
              <a:t>결과 및 한계점</a:t>
            </a:r>
            <a:endParaRPr lang="ko-KR" altLang="en-US" sz="1200" dirty="0">
              <a:solidFill>
                <a:srgbClr val="FAA3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DE66B2-09FD-4E0D-BDF8-BDD0DF8E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1104" y="5866574"/>
            <a:ext cx="2228850" cy="365125"/>
          </a:xfrm>
        </p:spPr>
        <p:txBody>
          <a:bodyPr/>
          <a:lstStyle/>
          <a:p>
            <a:fld id="{453D809E-58F2-4A58-AF2E-6AFE2704BE33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9" y="357974"/>
            <a:ext cx="3217503" cy="430887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분석 배경 </a:t>
            </a:r>
          </a:p>
        </p:txBody>
      </p:sp>
      <p:pic>
        <p:nvPicPr>
          <p:cNvPr id="11" name="Picture 2" descr="C:\Users\지서니\Pictures\그림5.png">
            <a:extLst>
              <a:ext uri="{FF2B5EF4-FFF2-40B4-BE49-F238E27FC236}">
                <a16:creationId xmlns:a16="http://schemas.microsoft.com/office/drawing/2014/main" id="{42337274-D149-4C55-9BDA-ED335D623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6395"/>
            <a:ext cx="9904720" cy="10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8D622C3D-ECEA-4B52-A49C-1D597A802C7F}"/>
              </a:ext>
            </a:extLst>
          </p:cNvPr>
          <p:cNvSpPr/>
          <p:nvPr/>
        </p:nvSpPr>
        <p:spPr>
          <a:xfrm>
            <a:off x="837394" y="1283315"/>
            <a:ext cx="8391524" cy="452460"/>
          </a:xfrm>
          <a:prstGeom prst="rect">
            <a:avLst/>
          </a:prstGeom>
          <a:noFill/>
          <a:ln w="3175">
            <a:gradFill>
              <a:gsLst>
                <a:gs pos="1000">
                  <a:schemeClr val="bg1">
                    <a:lumMod val="65000"/>
                  </a:schemeClr>
                </a:gs>
                <a:gs pos="58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457200" algn="ctr" latinLnBrk="0">
              <a:buClr>
                <a:srgbClr val="EEECE1"/>
              </a:buClr>
              <a:buSzPct val="100000"/>
            </a:pPr>
            <a:endParaRPr kumimoji="0" lang="ko-KR" altLang="en-US" sz="5400" spc="-100" dirty="0">
              <a:ln cap="sq">
                <a:solidFill>
                  <a:srgbClr val="735735">
                    <a:alpha val="0"/>
                  </a:srgbClr>
                </a:solidFill>
                <a:miter lim="800000"/>
              </a:ln>
              <a:solidFill>
                <a:srgbClr val="514639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C4F103-F3CB-4E5E-BBCF-304337C72D97}"/>
              </a:ext>
            </a:extLst>
          </p:cNvPr>
          <p:cNvGrpSpPr/>
          <p:nvPr/>
        </p:nvGrpSpPr>
        <p:grpSpPr>
          <a:xfrm>
            <a:off x="631650" y="1264127"/>
            <a:ext cx="1616067" cy="338554"/>
            <a:chOff x="726903" y="1639880"/>
            <a:chExt cx="1616067" cy="338554"/>
          </a:xfrm>
        </p:grpSpPr>
        <p:sp>
          <p:nvSpPr>
            <p:cNvPr id="77" name="육각형 76">
              <a:extLst>
                <a:ext uri="{FF2B5EF4-FFF2-40B4-BE49-F238E27FC236}">
                  <a16:creationId xmlns:a16="http://schemas.microsoft.com/office/drawing/2014/main" id="{97412E32-3A18-4BA6-8B2D-383F9548DB66}"/>
                </a:ext>
              </a:extLst>
            </p:cNvPr>
            <p:cNvSpPr/>
            <p:nvPr/>
          </p:nvSpPr>
          <p:spPr>
            <a:xfrm>
              <a:off x="726903" y="1640066"/>
              <a:ext cx="1540841" cy="335136"/>
            </a:xfrm>
            <a:prstGeom prst="hexagon">
              <a:avLst>
                <a:gd name="adj" fmla="val 45461"/>
                <a:gd name="vf" fmla="val 11547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600" dirty="0">
                <a:ln>
                  <a:solidFill>
                    <a:srgbClr val="448BFE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60CF9B8-7DAB-4D42-84AF-1289ECEDFFBF}"/>
                </a:ext>
              </a:extLst>
            </p:cNvPr>
            <p:cNvSpPr/>
            <p:nvPr/>
          </p:nvSpPr>
          <p:spPr>
            <a:xfrm>
              <a:off x="779931" y="1639880"/>
              <a:ext cx="156303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pc="-100" dirty="0">
                  <a:ln cap="sq">
                    <a:solidFill>
                      <a:srgbClr val="448BFE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127000" algn="ctr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      </a:t>
              </a:r>
              <a:r>
                <a:rPr lang="ko-KR" altLang="en-US" sz="1600" spc="-100" dirty="0">
                  <a:ln cap="sq">
                    <a:solidFill>
                      <a:srgbClr val="448BFE">
                        <a:alpha val="0"/>
                      </a:srgbClr>
                    </a:solidFill>
                    <a:miter lim="800000"/>
                  </a:ln>
                  <a:solidFill>
                    <a:prstClr val="white"/>
                  </a:solidFill>
                  <a:effectLst>
                    <a:outerShdw blurRad="127000" algn="ctr" rotWithShape="0">
                      <a:prstClr val="black">
                        <a:alpha val="40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배경</a:t>
              </a:r>
              <a:endParaRPr lang="ko-KR" altLang="en-US" sz="1400" spc="-100" dirty="0">
                <a:ln cap="sq">
                  <a:solidFill>
                    <a:srgbClr val="448BFE">
                      <a:alpha val="0"/>
                    </a:srgbClr>
                  </a:solidFill>
                  <a:miter lim="800000"/>
                </a:ln>
                <a:solidFill>
                  <a:prstClr val="white"/>
                </a:solidFill>
                <a:effectLst>
                  <a:outerShdw blurRad="127000" algn="ctr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9" name="이등변 삼각형 78">
              <a:extLst>
                <a:ext uri="{FF2B5EF4-FFF2-40B4-BE49-F238E27FC236}">
                  <a16:creationId xmlns:a16="http://schemas.microsoft.com/office/drawing/2014/main" id="{FB010BF4-0544-428F-8A3F-4BD2E643B929}"/>
                </a:ext>
              </a:extLst>
            </p:cNvPr>
            <p:cNvSpPr/>
            <p:nvPr/>
          </p:nvSpPr>
          <p:spPr>
            <a:xfrm rot="16200000">
              <a:off x="674676" y="1764746"/>
              <a:ext cx="199356" cy="88643"/>
            </a:xfrm>
            <a:prstGeom prst="triangle">
              <a:avLst/>
            </a:prstGeom>
            <a:solidFill>
              <a:srgbClr val="448BFE"/>
            </a:solidFill>
            <a:ln w="3175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457200" algn="ctr" latinLnBrk="0">
                <a:spcBef>
                  <a:spcPct val="0"/>
                </a:spcBef>
              </a:pPr>
              <a:endParaRPr lang="ko-KR" altLang="en-US" spc="-100" dirty="0">
                <a:ln cap="sq">
                  <a:solidFill>
                    <a:srgbClr val="448BFE">
                      <a:alpha val="0"/>
                    </a:srgbClr>
                  </a:solidFill>
                  <a:miter lim="800000"/>
                </a:ln>
                <a:solidFill>
                  <a:prstClr val="white"/>
                </a:solidFill>
                <a:effectLst>
                  <a:outerShdw blurRad="127000" algn="ctr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80" name="이등변 삼각형 79">
              <a:extLst>
                <a:ext uri="{FF2B5EF4-FFF2-40B4-BE49-F238E27FC236}">
                  <a16:creationId xmlns:a16="http://schemas.microsoft.com/office/drawing/2014/main" id="{5673B142-A1E9-4863-A827-3D052FDFF61E}"/>
                </a:ext>
              </a:extLst>
            </p:cNvPr>
            <p:cNvSpPr/>
            <p:nvPr/>
          </p:nvSpPr>
          <p:spPr>
            <a:xfrm rot="5400000" flipH="1">
              <a:off x="2116883" y="1764747"/>
              <a:ext cx="199356" cy="88643"/>
            </a:xfrm>
            <a:prstGeom prst="triangle">
              <a:avLst/>
            </a:prstGeom>
            <a:solidFill>
              <a:srgbClr val="448BFE"/>
            </a:solidFill>
            <a:ln w="3175" cap="sq">
              <a:noFill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0"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457200" algn="ctr" latinLnBrk="0">
                <a:spcBef>
                  <a:spcPct val="0"/>
                </a:spcBef>
              </a:pPr>
              <a:endParaRPr lang="ko-KR" altLang="en-US" spc="-100" dirty="0">
                <a:ln cap="sq">
                  <a:solidFill>
                    <a:srgbClr val="448BFE">
                      <a:alpha val="0"/>
                    </a:srgbClr>
                  </a:solidFill>
                  <a:miter lim="800000"/>
                </a:ln>
                <a:solidFill>
                  <a:prstClr val="white"/>
                </a:solidFill>
                <a:effectLst>
                  <a:outerShdw blurRad="127000" algn="ctr" rotWithShape="0">
                    <a:prstClr val="black">
                      <a:alpha val="40000"/>
                    </a:prst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E76BCF8-D862-453B-896C-9BBD6E2D0062}"/>
              </a:ext>
            </a:extLst>
          </p:cNvPr>
          <p:cNvSpPr/>
          <p:nvPr/>
        </p:nvSpPr>
        <p:spPr>
          <a:xfrm>
            <a:off x="2313699" y="1332627"/>
            <a:ext cx="6617927" cy="139890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다양한 분야에서 뉴스기사 요약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법률 분석 요약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사업보고서 요약 등 핵심내용을 신속하고 정확하게 파악할 수 있는 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</a:t>
            </a: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요약기술을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필요로 하고 있음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데이터셋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중 뉴스기사 </a:t>
            </a: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데이터셋을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활용해 뉴스기사를 요약을 하고자 함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endParaRPr lang="en-US" altLang="ko-KR" sz="1600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2126EF-B881-41D2-A6ED-14C8E90A145C}"/>
              </a:ext>
            </a:extLst>
          </p:cNvPr>
          <p:cNvSpPr/>
          <p:nvPr/>
        </p:nvSpPr>
        <p:spPr>
          <a:xfrm>
            <a:off x="5979451" y="417973"/>
            <a:ext cx="3217503" cy="460540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248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9" y="357974"/>
            <a:ext cx="2328599" cy="430887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활용 데이터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219DC9-2E02-4EF7-BA1F-EA3B89DE4618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분석 데이터 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75A6708-A8FA-41B0-8EEF-51DEC0F19023}"/>
              </a:ext>
            </a:extLst>
          </p:cNvPr>
          <p:cNvGrpSpPr/>
          <p:nvPr/>
        </p:nvGrpSpPr>
        <p:grpSpPr>
          <a:xfrm>
            <a:off x="3280" y="1280097"/>
            <a:ext cx="1554904" cy="470743"/>
            <a:chOff x="-5648" y="908720"/>
            <a:chExt cx="1626364" cy="470743"/>
          </a:xfrm>
        </p:grpSpPr>
        <p:pic>
          <p:nvPicPr>
            <p:cNvPr id="29" name="Picture 3">
              <a:extLst>
                <a:ext uri="{FF2B5EF4-FFF2-40B4-BE49-F238E27FC236}">
                  <a16:creationId xmlns:a16="http://schemas.microsoft.com/office/drawing/2014/main" id="{6C050954-DB17-4191-A18A-349F934BAE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30" name="제목 114">
              <a:extLst>
                <a:ext uri="{FF2B5EF4-FFF2-40B4-BE49-F238E27FC236}">
                  <a16:creationId xmlns:a16="http://schemas.microsoft.com/office/drawing/2014/main" id="{325FD0B5-7E95-4A5E-91A8-3772D9FE9ACA}"/>
                </a:ext>
              </a:extLst>
            </p:cNvPr>
            <p:cNvSpPr txBox="1">
              <a:spLocks/>
            </p:cNvSpPr>
            <p:nvPr/>
          </p:nvSpPr>
          <p:spPr>
            <a:xfrm>
              <a:off x="80495" y="1024979"/>
              <a:ext cx="1389586" cy="236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8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활용 데이터</a:t>
              </a:r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085BB3FB-C4C0-448A-8E91-6A6AD453AAE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FEA9BE-674A-40EA-BCF8-D6B7C7C60352}"/>
              </a:ext>
            </a:extLst>
          </p:cNvPr>
          <p:cNvSpPr/>
          <p:nvPr/>
        </p:nvSpPr>
        <p:spPr>
          <a:xfrm>
            <a:off x="5979451" y="417973"/>
            <a:ext cx="3217503" cy="460540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098832-9287-8E4C-805C-925AE1F80AA5}"/>
              </a:ext>
            </a:extLst>
          </p:cNvPr>
          <p:cNvSpPr/>
          <p:nvPr/>
        </p:nvSpPr>
        <p:spPr>
          <a:xfrm>
            <a:off x="749903" y="1877042"/>
            <a:ext cx="8717367" cy="539077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train.jsonl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-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학습에 사용 할 </a:t>
            </a:r>
            <a:r>
              <a:rPr lang="ko-KR" altLang="en-US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데이터셋</a:t>
            </a:r>
            <a:endParaRPr lang="ko-KR" altLang="en-US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media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기사 미디어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id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각 데이터 고유 번호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article_original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기사 내용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문장별로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split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되어 있음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abstractive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사람이 생성한 요약문</a:t>
            </a:r>
          </a:p>
          <a:p>
            <a:pPr marL="285750" lvl="1" indent="-2857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Tx/>
              <a:buChar char="-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extractive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사람이 추출한 요약문 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개의 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index</a:t>
            </a:r>
          </a:p>
          <a:p>
            <a:pPr marL="285750" lvl="1" indent="-2857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Tx/>
              <a:buChar char="-"/>
              <a:tabLst>
                <a:tab pos="1045596" algn="l"/>
              </a:tabLst>
              <a:defRPr/>
            </a:pPr>
            <a:endParaRPr lang="en-US" altLang="ko-KR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extractive_test.jsonl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-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추론할 </a:t>
            </a:r>
            <a:r>
              <a:rPr lang="ko-KR" altLang="en-US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데이터셋</a:t>
            </a:r>
            <a:endParaRPr lang="ko-KR" altLang="en-US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media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기사 미디어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id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각 데이터 고유 번호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article_original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전체 기사 내용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문장별로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split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되어 있음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endParaRPr lang="ko-KR" altLang="en-US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extractive_sample_submission.csv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-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extractive_test.jsonl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추론 결과를 작성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id : </a:t>
            </a:r>
            <a:r>
              <a:rPr lang="en-US" altLang="ko-KR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extractive_test.jsonl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데이터의 고유 번호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summary :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모델이 추론한 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개의 추출 문장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하나의 셀에 각 문장을 “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/n”</a:t>
            </a:r>
            <a:r>
              <a:rPr lang="ko-KR" altLang="en-US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 구분</a:t>
            </a:r>
            <a:r>
              <a:rPr lang="en-US" altLang="ko-KR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endParaRPr lang="en-US" altLang="ko-KR" sz="1600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59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8" y="142531"/>
            <a:ext cx="4021042" cy="861774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전처리 및 학습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10AEBA-A31E-46C4-870F-F79F2C336867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buSzPct val="100000"/>
              <a:defRPr/>
            </a:pP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spc="-200" dirty="0">
              <a:ln>
                <a:solidFill>
                  <a:srgbClr val="0067B4">
                    <a:alpha val="0"/>
                  </a:srgb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0D1567-02BE-490F-8F7B-FA604C9EBCC9}"/>
              </a:ext>
            </a:extLst>
          </p:cNvPr>
          <p:cNvGrpSpPr/>
          <p:nvPr/>
        </p:nvGrpSpPr>
        <p:grpSpPr>
          <a:xfrm>
            <a:off x="-80579" y="1280097"/>
            <a:ext cx="1638763" cy="470743"/>
            <a:chOff x="-93361" y="908720"/>
            <a:chExt cx="1714077" cy="470743"/>
          </a:xfrm>
        </p:grpSpPr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4E2A5BA9-4B7A-45F8-964D-CF8E26BB5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8" name="제목 114">
              <a:extLst>
                <a:ext uri="{FF2B5EF4-FFF2-40B4-BE49-F238E27FC236}">
                  <a16:creationId xmlns:a16="http://schemas.microsoft.com/office/drawing/2014/main" id="{F008E3AC-7D24-4E77-8F30-E15D1BC74F65}"/>
                </a:ext>
              </a:extLst>
            </p:cNvPr>
            <p:cNvSpPr txBox="1">
              <a:spLocks/>
            </p:cNvSpPr>
            <p:nvPr/>
          </p:nvSpPr>
          <p:spPr>
            <a:xfrm>
              <a:off x="-93361" y="1017922"/>
              <a:ext cx="1599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</a:t>
              </a:r>
              <a:r>
                <a:rPr lang="ko-KR" altLang="en-US" sz="1600" dirty="0" err="1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전처리</a:t>
              </a:r>
              <a:endPara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966B13-CE4B-41EC-84C0-871689DB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301DE4-6B52-4D06-9EF3-DB66223E39EB}"/>
              </a:ext>
            </a:extLst>
          </p:cNvPr>
          <p:cNvSpPr/>
          <p:nvPr/>
        </p:nvSpPr>
        <p:spPr>
          <a:xfrm>
            <a:off x="7234631" y="386172"/>
            <a:ext cx="1979708" cy="459085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ECEED9-7316-4D58-A270-06534EEF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" y="0"/>
            <a:ext cx="9902413" cy="67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272D4-3FB4-4D4B-8606-909A9DB89CC5}"/>
              </a:ext>
            </a:extLst>
          </p:cNvPr>
          <p:cNvSpPr/>
          <p:nvPr/>
        </p:nvSpPr>
        <p:spPr>
          <a:xfrm>
            <a:off x="1676376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AD7013-B0BA-2C4C-8F6B-9D7F6A4293B6}"/>
              </a:ext>
            </a:extLst>
          </p:cNvPr>
          <p:cNvSpPr/>
          <p:nvPr/>
        </p:nvSpPr>
        <p:spPr>
          <a:xfrm>
            <a:off x="1642043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en-US" altLang="ko-KR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Basic Preprocessing</a:t>
            </a: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1255C892-C6E3-8E4A-90CD-32B85A6354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958" y="1985545"/>
            <a:ext cx="7892849" cy="46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2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8" y="142531"/>
            <a:ext cx="4021042" cy="861774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전처리 및 학습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10AEBA-A31E-46C4-870F-F79F2C336867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buSzPct val="100000"/>
              <a:defRPr/>
            </a:pP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spc="-200" dirty="0">
              <a:ln>
                <a:solidFill>
                  <a:srgbClr val="0067B4">
                    <a:alpha val="0"/>
                  </a:srgb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0D1567-02BE-490F-8F7B-FA604C9EBCC9}"/>
              </a:ext>
            </a:extLst>
          </p:cNvPr>
          <p:cNvGrpSpPr/>
          <p:nvPr/>
        </p:nvGrpSpPr>
        <p:grpSpPr>
          <a:xfrm>
            <a:off x="-80579" y="1280097"/>
            <a:ext cx="1638763" cy="470743"/>
            <a:chOff x="-93361" y="908720"/>
            <a:chExt cx="1714077" cy="470743"/>
          </a:xfrm>
        </p:grpSpPr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4E2A5BA9-4B7A-45F8-964D-CF8E26BB5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8" name="제목 114">
              <a:extLst>
                <a:ext uri="{FF2B5EF4-FFF2-40B4-BE49-F238E27FC236}">
                  <a16:creationId xmlns:a16="http://schemas.microsoft.com/office/drawing/2014/main" id="{F008E3AC-7D24-4E77-8F30-E15D1BC74F65}"/>
                </a:ext>
              </a:extLst>
            </p:cNvPr>
            <p:cNvSpPr txBox="1">
              <a:spLocks/>
            </p:cNvSpPr>
            <p:nvPr/>
          </p:nvSpPr>
          <p:spPr>
            <a:xfrm>
              <a:off x="-93361" y="1017922"/>
              <a:ext cx="1599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</a:t>
              </a:r>
              <a:r>
                <a:rPr lang="ko-KR" altLang="en-US" sz="1600" dirty="0" err="1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전처리</a:t>
              </a:r>
              <a:endPara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966B13-CE4B-41EC-84C0-871689DB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301DE4-6B52-4D06-9EF3-DB66223E39EB}"/>
              </a:ext>
            </a:extLst>
          </p:cNvPr>
          <p:cNvSpPr/>
          <p:nvPr/>
        </p:nvSpPr>
        <p:spPr>
          <a:xfrm>
            <a:off x="7234631" y="386172"/>
            <a:ext cx="1979708" cy="459085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ECEED9-7316-4D58-A270-06534EEF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" y="0"/>
            <a:ext cx="9902413" cy="67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272D4-3FB4-4D4B-8606-909A9DB89CC5}"/>
              </a:ext>
            </a:extLst>
          </p:cNvPr>
          <p:cNvSpPr/>
          <p:nvPr/>
        </p:nvSpPr>
        <p:spPr>
          <a:xfrm>
            <a:off x="1676376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AD7013-B0BA-2C4C-8F6B-9D7F6A4293B6}"/>
              </a:ext>
            </a:extLst>
          </p:cNvPr>
          <p:cNvSpPr/>
          <p:nvPr/>
        </p:nvSpPr>
        <p:spPr>
          <a:xfrm>
            <a:off x="1642043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en-US" altLang="ko-KR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Basic Preprocessing</a:t>
            </a: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2532001-B8FE-A141-8517-9D97CCB23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976" y="1860042"/>
            <a:ext cx="8449363" cy="47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0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8" y="142531"/>
            <a:ext cx="4021042" cy="861774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 전처리 및 학습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10AEBA-A31E-46C4-870F-F79F2C336867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buSzPct val="100000"/>
              <a:defRPr/>
            </a:pP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spc="-200" dirty="0">
              <a:ln>
                <a:solidFill>
                  <a:srgbClr val="0067B4">
                    <a:alpha val="0"/>
                  </a:srgb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0D1567-02BE-490F-8F7B-FA604C9EBCC9}"/>
              </a:ext>
            </a:extLst>
          </p:cNvPr>
          <p:cNvGrpSpPr/>
          <p:nvPr/>
        </p:nvGrpSpPr>
        <p:grpSpPr>
          <a:xfrm>
            <a:off x="-80579" y="1280097"/>
            <a:ext cx="1638763" cy="470743"/>
            <a:chOff x="-93361" y="908720"/>
            <a:chExt cx="1714077" cy="470743"/>
          </a:xfrm>
        </p:grpSpPr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4E2A5BA9-4B7A-45F8-964D-CF8E26BB5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8" name="제목 114">
              <a:extLst>
                <a:ext uri="{FF2B5EF4-FFF2-40B4-BE49-F238E27FC236}">
                  <a16:creationId xmlns:a16="http://schemas.microsoft.com/office/drawing/2014/main" id="{F008E3AC-7D24-4E77-8F30-E15D1BC74F65}"/>
                </a:ext>
              </a:extLst>
            </p:cNvPr>
            <p:cNvSpPr txBox="1">
              <a:spLocks/>
            </p:cNvSpPr>
            <p:nvPr/>
          </p:nvSpPr>
          <p:spPr>
            <a:xfrm>
              <a:off x="-93361" y="1017922"/>
              <a:ext cx="1599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</a:t>
              </a:r>
              <a:r>
                <a:rPr lang="ko-KR" altLang="en-US" sz="1600" dirty="0" err="1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전처리</a:t>
              </a:r>
              <a:endPara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966B13-CE4B-41EC-84C0-871689DB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301DE4-6B52-4D06-9EF3-DB66223E39EB}"/>
              </a:ext>
            </a:extLst>
          </p:cNvPr>
          <p:cNvSpPr/>
          <p:nvPr/>
        </p:nvSpPr>
        <p:spPr>
          <a:xfrm>
            <a:off x="7234631" y="386172"/>
            <a:ext cx="1979708" cy="459085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ECEED9-7316-4D58-A270-06534EEF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" y="0"/>
            <a:ext cx="9902413" cy="67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272D4-3FB4-4D4B-8606-909A9DB89CC5}"/>
              </a:ext>
            </a:extLst>
          </p:cNvPr>
          <p:cNvSpPr/>
          <p:nvPr/>
        </p:nvSpPr>
        <p:spPr>
          <a:xfrm>
            <a:off x="1676376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 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AD7013-B0BA-2C4C-8F6B-9D7F6A4293B6}"/>
              </a:ext>
            </a:extLst>
          </p:cNvPr>
          <p:cNvSpPr/>
          <p:nvPr/>
        </p:nvSpPr>
        <p:spPr>
          <a:xfrm>
            <a:off x="1642043" y="1236178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30325" eaLnBrk="0" latinLnBrk="0" hangingPunct="0">
              <a:buSzPct val="100000"/>
              <a:defRPr/>
            </a:pPr>
            <a:r>
              <a:rPr lang="en-US" altLang="ko-KR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Basic Preprocessing</a:t>
            </a:r>
            <a:r>
              <a:rPr lang="ko-KR" altLang="en-US" kern="0" spc="-40" dirty="0"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2532001-B8FE-A141-8517-9D97CCB23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976" y="1860042"/>
            <a:ext cx="8449363" cy="478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95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10AEBA-A31E-46C4-870F-F79F2C336867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buSzPct val="100000"/>
              <a:defRPr/>
            </a:pP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Sentence </a:t>
            </a:r>
            <a:r>
              <a:rPr lang="ko-KR" altLang="en-US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분포 </a:t>
            </a: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EDA</a:t>
            </a:r>
            <a:endParaRPr lang="ko-KR" altLang="en-US" b="1" spc="-200" dirty="0">
              <a:ln>
                <a:solidFill>
                  <a:srgbClr val="0067B4">
                    <a:alpha val="0"/>
                  </a:srgb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0D1567-02BE-490F-8F7B-FA604C9EBCC9}"/>
              </a:ext>
            </a:extLst>
          </p:cNvPr>
          <p:cNvGrpSpPr/>
          <p:nvPr/>
        </p:nvGrpSpPr>
        <p:grpSpPr>
          <a:xfrm>
            <a:off x="-80579" y="1280097"/>
            <a:ext cx="1638763" cy="470743"/>
            <a:chOff x="-93361" y="908720"/>
            <a:chExt cx="1714077" cy="470743"/>
          </a:xfrm>
        </p:grpSpPr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4E2A5BA9-4B7A-45F8-964D-CF8E26BB5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8" name="제목 114">
              <a:extLst>
                <a:ext uri="{FF2B5EF4-FFF2-40B4-BE49-F238E27FC236}">
                  <a16:creationId xmlns:a16="http://schemas.microsoft.com/office/drawing/2014/main" id="{F008E3AC-7D24-4E77-8F30-E15D1BC74F65}"/>
                </a:ext>
              </a:extLst>
            </p:cNvPr>
            <p:cNvSpPr txBox="1">
              <a:spLocks/>
            </p:cNvSpPr>
            <p:nvPr/>
          </p:nvSpPr>
          <p:spPr>
            <a:xfrm>
              <a:off x="-93361" y="1017922"/>
              <a:ext cx="1599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데이터 </a:t>
              </a:r>
              <a:r>
                <a:rPr lang="ko-KR" altLang="en-US" sz="1600" dirty="0" err="1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전처리</a:t>
              </a:r>
              <a:endParaRPr lang="ko-KR" altLang="en-US" sz="160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966B13-CE4B-41EC-84C0-871689DB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301DE4-6B52-4D06-9EF3-DB66223E39EB}"/>
              </a:ext>
            </a:extLst>
          </p:cNvPr>
          <p:cNvSpPr/>
          <p:nvPr/>
        </p:nvSpPr>
        <p:spPr>
          <a:xfrm>
            <a:off x="7234631" y="386172"/>
            <a:ext cx="1979708" cy="459085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ECEED9-7316-4D58-A270-06534EEF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" y="0"/>
            <a:ext cx="9902413" cy="67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69EB47-4342-6047-894A-976C1EB4F8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719" y="1933131"/>
            <a:ext cx="6088211" cy="4866109"/>
          </a:xfrm>
          <a:prstGeom prst="rect">
            <a:avLst/>
          </a:prstGeom>
        </p:spPr>
      </p:pic>
      <p:sp>
        <p:nvSpPr>
          <p:cNvPr id="20" name="제목 2">
            <a:extLst>
              <a:ext uri="{FF2B5EF4-FFF2-40B4-BE49-F238E27FC236}">
                <a16:creationId xmlns:a16="http://schemas.microsoft.com/office/drawing/2014/main" id="{21367568-6F3F-C249-8451-6CF42E4B44F3}"/>
              </a:ext>
            </a:extLst>
          </p:cNvPr>
          <p:cNvSpPr txBox="1">
            <a:spLocks/>
          </p:cNvSpPr>
          <p:nvPr/>
        </p:nvSpPr>
        <p:spPr>
          <a:xfrm>
            <a:off x="931958" y="121744"/>
            <a:ext cx="402104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/>
              <a:t>3. </a:t>
            </a:r>
            <a:r>
              <a:rPr lang="ko-KR" altLang="en-US" dirty="0"/>
              <a:t>데이터 전처리 및 학습</a:t>
            </a:r>
          </a:p>
        </p:txBody>
      </p:sp>
    </p:spTree>
    <p:extLst>
      <p:ext uri="{BB962C8B-B14F-4D97-AF65-F5344CB8AC3E}">
        <p14:creationId xmlns:p14="http://schemas.microsoft.com/office/powerpoint/2010/main" val="255151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9C390D2-287D-493D-B573-B93D2A24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58" y="357974"/>
            <a:ext cx="4021042" cy="430887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결과 및 한계점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10AEBA-A31E-46C4-870F-F79F2C336867}"/>
              </a:ext>
            </a:extLst>
          </p:cNvPr>
          <p:cNvSpPr/>
          <p:nvPr/>
        </p:nvSpPr>
        <p:spPr>
          <a:xfrm>
            <a:off x="1642043" y="1218479"/>
            <a:ext cx="7406474" cy="584775"/>
          </a:xfrm>
          <a:prstGeom prst="rect">
            <a:avLst/>
          </a:prstGeom>
        </p:spPr>
        <p:txBody>
          <a:bodyPr wrap="square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330325" eaLnBrk="0" latinLnBrk="0" hangingPunct="0">
              <a:buSzPct val="100000"/>
              <a:defRPr/>
            </a:pPr>
            <a:r>
              <a:rPr lang="en-US" altLang="ko-KR" b="1" kern="0" spc="-40" dirty="0">
                <a:ln>
                  <a:solidFill>
                    <a:srgbClr val="0067B4">
                      <a:alpha val="0"/>
                    </a:srgbClr>
                  </a:solidFill>
                </a:ln>
                <a:gradFill>
                  <a:gsLst>
                    <a:gs pos="100000">
                      <a:srgbClr val="0070C0"/>
                    </a:gs>
                    <a:gs pos="0">
                      <a:srgbClr val="1F497D">
                        <a:lumMod val="75000"/>
                      </a:srgbClr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 </a:t>
            </a:r>
            <a:endParaRPr lang="ko-KR" altLang="en-US" b="1" spc="-200" dirty="0">
              <a:ln>
                <a:solidFill>
                  <a:srgbClr val="0067B4">
                    <a:alpha val="0"/>
                  </a:srgbClr>
                </a:solidFill>
              </a:ln>
              <a:solidFill>
                <a:schemeClr val="accent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0D1567-02BE-490F-8F7B-FA604C9EBCC9}"/>
              </a:ext>
            </a:extLst>
          </p:cNvPr>
          <p:cNvGrpSpPr/>
          <p:nvPr/>
        </p:nvGrpSpPr>
        <p:grpSpPr>
          <a:xfrm>
            <a:off x="-80579" y="1280097"/>
            <a:ext cx="1638763" cy="470743"/>
            <a:chOff x="-93361" y="908720"/>
            <a:chExt cx="1714077" cy="470743"/>
          </a:xfrm>
        </p:grpSpPr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4E2A5BA9-4B7A-45F8-964D-CF8E26BB5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0" t="59297" r="1754" b="27084"/>
            <a:stretch/>
          </p:blipFill>
          <p:spPr bwMode="auto">
            <a:xfrm>
              <a:off x="-5648" y="908720"/>
              <a:ext cx="1626364" cy="47074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8" name="제목 114">
              <a:extLst>
                <a:ext uri="{FF2B5EF4-FFF2-40B4-BE49-F238E27FC236}">
                  <a16:creationId xmlns:a16="http://schemas.microsoft.com/office/drawing/2014/main" id="{F008E3AC-7D24-4E77-8F30-E15D1BC74F65}"/>
                </a:ext>
              </a:extLst>
            </p:cNvPr>
            <p:cNvSpPr txBox="1">
              <a:spLocks/>
            </p:cNvSpPr>
            <p:nvPr/>
          </p:nvSpPr>
          <p:spPr>
            <a:xfrm>
              <a:off x="-93361" y="1017922"/>
              <a:ext cx="159901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algn="ctr" fontAlgn="base" latinLnBrk="0">
                <a:defRPr sz="17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-웹윤고딕130" pitchFamily="18" charset="-127"/>
                  <a:ea typeface="-웹윤고딕130" pitchFamily="18" charset="-127"/>
                </a:defRPr>
              </a:lvl1pPr>
            </a:lstStyle>
            <a:p>
              <a:pPr>
                <a:lnSpc>
                  <a:spcPts val="18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결과 및 한계점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6B966B13-CE4B-41EC-84C0-871689DB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99"/>
          <a:stretch/>
        </p:blipFill>
        <p:spPr>
          <a:xfrm>
            <a:off x="1430644" y="1400770"/>
            <a:ext cx="245732" cy="2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301DE4-6B52-4D06-9EF3-DB66223E39EB}"/>
              </a:ext>
            </a:extLst>
          </p:cNvPr>
          <p:cNvSpPr/>
          <p:nvPr/>
        </p:nvSpPr>
        <p:spPr>
          <a:xfrm>
            <a:off x="7234631" y="386172"/>
            <a:ext cx="1979708" cy="459085"/>
          </a:xfrm>
          <a:prstGeom prst="rect">
            <a:avLst/>
          </a:prstGeom>
          <a:solidFill>
            <a:srgbClr val="112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1ECEED9-7316-4D58-A270-06534EEF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" y="0"/>
            <a:ext cx="9902413" cy="67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DC025C-1B86-2545-93E4-7D373EC30F3B}"/>
              </a:ext>
            </a:extLst>
          </p:cNvPr>
          <p:cNvSpPr/>
          <p:nvPr/>
        </p:nvSpPr>
        <p:spPr>
          <a:xfrm>
            <a:off x="780732" y="2176476"/>
            <a:ext cx="6617927" cy="18482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토크나이저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생성 시 생성되는 잦은 오류로 시간을 많이 지체함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인코딩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시 단어로 </a:t>
            </a: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인코딩이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안되고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한 글자씩 </a:t>
            </a:r>
            <a:r>
              <a:rPr lang="ko-KR" altLang="en-US" sz="1600" spc="-100" dirty="0" err="1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인코딩이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되는 문제 발생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트랜스포머에 대한 깊은 이해 필요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44000" lvl="1" indent="-1440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buFont typeface="Arial" panose="020B0604020202020204" pitchFamily="34" charset="0"/>
              <a:buChar char="•"/>
              <a:tabLst>
                <a:tab pos="1045596" algn="l"/>
              </a:tabLst>
              <a:defRPr/>
            </a:pP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RNN</a:t>
            </a:r>
            <a:r>
              <a:rPr lang="ko-KR" altLang="en-US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전반적인 개념 이해와 더 많은 실습 연습이 필요</a:t>
            </a:r>
            <a:r>
              <a:rPr lang="en-US" altLang="ko-KR" sz="1600" spc="-10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0"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chemeClr val="tx1">
                  <a:lumMod val="65000"/>
                  <a:lumOff val="35000"/>
                </a:schemeClr>
              </a:buClr>
              <a:buSzPct val="120000"/>
              <a:tabLst>
                <a:tab pos="1045596" algn="l"/>
              </a:tabLst>
              <a:defRPr/>
            </a:pPr>
            <a:endParaRPr lang="en-US" altLang="ko-KR" sz="1600" spc="-100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>
                  <a:lumMod val="65000"/>
                  <a:lumOff val="3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1795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334</Words>
  <Application>Microsoft Macintosh PowerPoint</Application>
  <PresentationFormat>A4 용지(210x297mm)</PresentationFormat>
  <Paragraphs>72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나눔스퀘어OTF Bold</vt:lpstr>
      <vt:lpstr>KoPub돋움체 Bold</vt:lpstr>
      <vt:lpstr>Malgun Gothic</vt:lpstr>
      <vt:lpstr>Arial</vt:lpstr>
      <vt:lpstr>Calibri</vt:lpstr>
      <vt:lpstr>Office 테마</vt:lpstr>
      <vt:lpstr>PowerPoint 프레젠테이션</vt:lpstr>
      <vt:lpstr>PowerPoint 프레젠테이션</vt:lpstr>
      <vt:lpstr>1. 분석 배경 </vt:lpstr>
      <vt:lpstr>2. 활용 데이터</vt:lpstr>
      <vt:lpstr>3. 데이터 전처리 및 학습</vt:lpstr>
      <vt:lpstr>3. 데이터 전처리 및 학습</vt:lpstr>
      <vt:lpstr>3. 데이터 전처리 및 학습</vt:lpstr>
      <vt:lpstr>PowerPoint 프레젠테이션</vt:lpstr>
      <vt:lpstr>4. 결과 및 한계점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강민영</cp:lastModifiedBy>
  <cp:revision>8</cp:revision>
  <dcterms:created xsi:type="dcterms:W3CDTF">2020-11-11T04:58:03Z</dcterms:created>
  <dcterms:modified xsi:type="dcterms:W3CDTF">2021-03-25T14:44:07Z</dcterms:modified>
</cp:coreProperties>
</file>